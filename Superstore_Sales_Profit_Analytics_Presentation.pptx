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1417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234E78"/>
                </a:solidFill>
                <a:latin typeface="Aptos"/>
              </a:rPr>
              <a:t>SUPERSTORE SALES &amp; PROFIT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C74B8"/>
                </a:solidFill>
                <a:latin typeface="Aptos"/>
              </a:rPr>
              <a:t>Power BI 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67004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A6676"/>
                </a:solidFill>
                <a:latin typeface="Aptos"/>
              </a:rPr>
              <a:t>Project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3246120"/>
            <a:ext cx="1920240" cy="54864"/>
          </a:xfrm>
          <a:prstGeom prst="rect">
            <a:avLst/>
          </a:prstGeom>
          <a:solidFill>
            <a:srgbClr val="2C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3474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Sales • Profitability • Customers • Regional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893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676"/>
                </a:solidFill>
                <a:latin typeface="Aptos"/>
              </a:rPr>
              <a:t>Based on the Superstore Power BI dashboard shown in the project reference.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34E78"/>
                </a:solidFill>
                <a:latin typeface="Aptos"/>
              </a:rPr>
              <a:t>Power BI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A6676"/>
                </a:solidFill>
                <a:latin typeface="Aptos"/>
              </a:rPr>
              <a:t>Overview of the dashboard and key business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5A6676"/>
                </a:solidFill>
                <a:latin typeface="Aptos"/>
              </a:rPr>
              <a:t>Dashboard includes KPI cards, filters, trend analysis, regional/state views, product details, category mix and sub-category profit.</a:t>
            </a:r>
          </a:p>
        </p:txBody>
      </p:sp>
      <p:pic>
        <p:nvPicPr>
          <p:cNvPr id="8" name="Picture 7" descr="The image displays a Power BI dashboard with various sales and profit analytics, including total sales, profits, and customer statistics, categorized by regions and time periods.&#10;&#10;AI-generated content may be incorrect.">
            <a:extLst>
              <a:ext uri="{FF2B5EF4-FFF2-40B4-BE49-F238E27FC236}">
                <a16:creationId xmlns:a16="http://schemas.microsoft.com/office/drawing/2014/main" id="{95A6D86F-5B1F-FFC5-0C63-0083DCA333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56" t="18239" r="16008"/>
          <a:stretch>
            <a:fillRect/>
          </a:stretch>
        </p:blipFill>
        <p:spPr>
          <a:xfrm>
            <a:off x="594360" y="1240819"/>
            <a:ext cx="9131808" cy="51901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34E78"/>
                </a:solidFill>
                <a:latin typeface="Aptos"/>
              </a:rPr>
              <a:t>Executive KPI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A6676"/>
                </a:solidFill>
                <a:latin typeface="Aptos"/>
              </a:rPr>
              <a:t>Headline measures visible on the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971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8191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A6676"/>
                </a:solidFill>
                <a:latin typeface="Aptos"/>
              </a:rPr>
              <a:t>Total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84248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234E78"/>
                </a:solidFill>
                <a:latin typeface="Aptos"/>
              </a:rPr>
              <a:t>₹ 1.358B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Aptos"/>
              </a:rPr>
              <a:t>Overall revenue generated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17320"/>
            <a:ext cx="2971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158191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A6676"/>
                </a:solidFill>
                <a:latin typeface="Aptos"/>
              </a:rPr>
              <a:t>Total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984248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234E78"/>
                </a:solidFill>
                <a:latin typeface="Aptos"/>
              </a:rPr>
              <a:t>₹ 164.09K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560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Aptos"/>
              </a:rPr>
              <a:t>Profit earned across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417320"/>
            <a:ext cx="2971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19" y="158191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A6676"/>
                </a:solidFill>
                <a:latin typeface="Aptos"/>
              </a:rPr>
              <a:t>Total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19" y="1984248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234E78"/>
                </a:solidFill>
                <a:latin typeface="Aptos"/>
              </a:rPr>
              <a:t>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2560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Aptos"/>
              </a:rPr>
              <a:t>Approximate order volume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03320"/>
            <a:ext cx="2971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867911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A6676"/>
                </a:solidFill>
                <a:latin typeface="Aptos"/>
              </a:rPr>
              <a:t>Total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70248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234E78"/>
                </a:solidFill>
                <a:latin typeface="Aptos"/>
              </a:rPr>
              <a:t>774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Aptos"/>
              </a:rPr>
              <a:t>Customer count shown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703320"/>
            <a:ext cx="2971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3867911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A6676"/>
                </a:solidFill>
                <a:latin typeface="Aptos"/>
              </a:rPr>
              <a:t>Profit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270248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234E78"/>
                </a:solidFill>
                <a:latin typeface="Aptos"/>
              </a:rPr>
              <a:t>12.08%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846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Aptos"/>
              </a:rPr>
              <a:t>Profitability indicator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703320"/>
            <a:ext cx="2971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19" y="3867911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A6676"/>
                </a:solidFill>
                <a:latin typeface="Aptos"/>
              </a:rPr>
              <a:t>Average Order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19" y="4270248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234E78"/>
                </a:solidFill>
                <a:latin typeface="Aptos"/>
              </a:rPr>
              <a:t>₹ 453.65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19" y="4846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Aptos"/>
              </a:rPr>
              <a:t>Average value per order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34E78"/>
                </a:solidFill>
                <a:latin typeface="Aptos"/>
              </a:rPr>
              <a:t>Key Performance Observations</a:t>
            </a:r>
          </a:p>
        </p:txBody>
      </p:sp>
      <p:sp>
        <p:nvSpPr>
          <p:cNvPr id="3" name="Oval 2"/>
          <p:cNvSpPr/>
          <p:nvPr/>
        </p:nvSpPr>
        <p:spPr>
          <a:xfrm>
            <a:off x="713232" y="1481328"/>
            <a:ext cx="109728" cy="109728"/>
          </a:xfrm>
          <a:prstGeom prst="ellipse">
            <a:avLst/>
          </a:prstGeom>
          <a:solidFill>
            <a:srgbClr val="2C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8345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dirty="0">
                <a:solidFill>
                  <a:srgbClr val="232323"/>
                </a:solidFill>
                <a:latin typeface="Aptos"/>
              </a:rPr>
              <a:t>Sales show a dip from 2014 to 2015, followed by a strong recovery and growth through 2016–2017.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2350008"/>
            <a:ext cx="109728" cy="109728"/>
          </a:xfrm>
          <a:prstGeom prst="ellipse">
            <a:avLst/>
          </a:prstGeom>
          <a:solidFill>
            <a:srgbClr val="2C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102468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dirty="0">
                <a:solidFill>
                  <a:srgbClr val="232323"/>
                </a:solidFill>
                <a:latin typeface="Aptos"/>
              </a:rPr>
              <a:t>The West and East regions are the strongest contributors to total sales, followed by Central and South.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3218688"/>
            <a:ext cx="109728" cy="109728"/>
          </a:xfrm>
          <a:prstGeom prst="ellipse">
            <a:avLst/>
          </a:prstGeom>
          <a:solidFill>
            <a:srgbClr val="2C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036028"/>
            <a:ext cx="91362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32323"/>
                </a:solidFill>
                <a:latin typeface="Aptos"/>
              </a:rPr>
              <a:t>Technology contributes the largest category share, while Furniture and Office Supplies also represent substantial portions of sales.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4087368"/>
            <a:ext cx="109728" cy="109728"/>
          </a:xfrm>
          <a:prstGeom prst="ellipse">
            <a:avLst/>
          </a:prstGeom>
          <a:solidFill>
            <a:srgbClr val="2C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894152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232323"/>
                </a:solidFill>
                <a:latin typeface="Aptos"/>
              </a:rPr>
              <a:t>The state-level view indicates a concentration of sales in a small number of leading states, with the remaining states contributing smaller amounts.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956048"/>
            <a:ext cx="109728" cy="109728"/>
          </a:xfrm>
          <a:prstGeom prst="ellipse">
            <a:avLst/>
          </a:prstGeom>
          <a:solidFill>
            <a:srgbClr val="2C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892040"/>
            <a:ext cx="863672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232323"/>
                </a:solidFill>
                <a:latin typeface="Aptos"/>
              </a:rPr>
              <a:t>The sub-category chart shows meaningful variation in profitability, highlighting opportunities to protect high-profit products and review weaker performers.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676"/>
                </a:solidFill>
                <a:latin typeface="Aptos"/>
              </a:rPr>
              <a:t>Interpretation is based on the visual patterns and KPI values displayed in the supplied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34E78"/>
                </a:solidFill>
                <a:latin typeface="Aptos"/>
              </a:rPr>
              <a:t>Business Insights &amp; Recommendations</a:t>
            </a:r>
          </a:p>
        </p:txBody>
      </p:sp>
      <p:sp>
        <p:nvSpPr>
          <p:cNvPr id="3" name="Oval 2"/>
          <p:cNvSpPr/>
          <p:nvPr/>
        </p:nvSpPr>
        <p:spPr>
          <a:xfrm>
            <a:off x="713232" y="1481328"/>
            <a:ext cx="109728" cy="109728"/>
          </a:xfrm>
          <a:prstGeom prst="ellipse">
            <a:avLst/>
          </a:prstGeom>
          <a:solidFill>
            <a:srgbClr val="2C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ptos"/>
              </a:rPr>
              <a:t>Prioritize the West and East regions with targeted campaigns, retention programs and inventory availability.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2350008"/>
            <a:ext cx="109728" cy="109728"/>
          </a:xfrm>
          <a:prstGeom prst="ellipse">
            <a:avLst/>
          </a:prstGeom>
          <a:solidFill>
            <a:srgbClr val="2C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ptos"/>
              </a:rPr>
              <a:t>Investigate the 2014–2015 sales decline to identify changes in customers, products, pricing or order mix.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3218688"/>
            <a:ext cx="109728" cy="109728"/>
          </a:xfrm>
          <a:prstGeom prst="ellipse">
            <a:avLst/>
          </a:prstGeom>
          <a:solidFill>
            <a:srgbClr val="2C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154680"/>
            <a:ext cx="9267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232323"/>
                </a:solidFill>
                <a:latin typeface="Aptos"/>
              </a:rPr>
              <a:t>Use category and sub-category profitability to guide product-level promotions rather than relying only on sales volume.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4087368"/>
            <a:ext cx="109728" cy="109728"/>
          </a:xfrm>
          <a:prstGeom prst="ellipse">
            <a:avLst/>
          </a:prstGeom>
          <a:solidFill>
            <a:srgbClr val="2C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9394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232323"/>
                </a:solidFill>
                <a:latin typeface="Aptos"/>
              </a:rPr>
              <a:t>Focus on high-value customers and products to increase average order value while maintaining the 12.08% profit margin.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956048"/>
            <a:ext cx="109728" cy="109728"/>
          </a:xfrm>
          <a:prstGeom prst="ellipse">
            <a:avLst/>
          </a:prstGeom>
          <a:solidFill>
            <a:srgbClr val="2C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892040"/>
            <a:ext cx="975021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232323"/>
                </a:solidFill>
                <a:latin typeface="Aptos"/>
              </a:rPr>
              <a:t>Build a recurring Power BI review using the existing filters for year, quarter, region, category, segment and ship mode.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A6676"/>
                </a:solidFill>
                <a:latin typeface="Aptos"/>
              </a:rPr>
              <a:t>Recommended actions should be validated with detailed transaction-level analysis before implementation.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234E78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46357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232323"/>
                </a:solidFill>
                <a:latin typeface="Aptos"/>
              </a:rPr>
              <a:t>The dashboard provides a single view of Superstore sales, profitability and customer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43200"/>
            <a:ext cx="80371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5A6676"/>
                </a:solidFill>
                <a:latin typeface="Aptos"/>
              </a:rPr>
              <a:t>It can be used to identify growth trends, regional opportunities, product-level profitability and areas requiring deeper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166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2C74B8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387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Sakshi Padwal</cp:lastModifiedBy>
  <cp:revision>3</cp:revision>
  <dcterms:created xsi:type="dcterms:W3CDTF">2013-01-27T09:14:16Z</dcterms:created>
  <dcterms:modified xsi:type="dcterms:W3CDTF">2026-10-05T11:40:02Z</dcterms:modified>
  <cp:category/>
</cp:coreProperties>
</file>